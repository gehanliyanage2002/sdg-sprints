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0CA51BC-631B-3378-6F75-90A07828F044}">
          <p14:sldIdLst>
            <p14:sldId id="256"/>
            <p14:sldId id="257"/>
          </p14:sldIdLst>
        </p14:section>
        <p14:section name="Team" id="{FCC860D8-D894-1876-98F0-5432583646BE}">
          <p14:sldIdLst>
            <p14:sldId id="258"/>
          </p14:sldIdLst>
        </p14:section>
        <p14:section name="Problem &amp; users" id="{49AF2D2C-1555-77DD-3DF8-D299E83CFC6B}">
          <p14:sldIdLst>
            <p14:sldId id="259"/>
            <p14:sldId id="260"/>
          </p14:sldIdLst>
        </p14:section>
        <p14:section name="Solution" id="{A5BAFA85-CCB1-1635-ED14-421965B2F2CA}">
          <p14:sldIdLst>
            <p14:sldId id="261"/>
            <p14:sldId id="262"/>
          </p14:sldIdLst>
        </p14:section>
        <p14:section name="Innovation &amp; impact" id="{3A81B86C-A824-41CB-A496-6FFD6FCBB71A}">
          <p14:sldIdLst>
            <p14:sldId id="263"/>
            <p14:sldId id="264"/>
          </p14:sldIdLst>
        </p14:section>
        <p14:section name="Delivery" id="{353B46F0-B4BA-7F15-6AE2-24087A394AE6}">
          <p14:sldIdLst>
            <p14:sldId id="265"/>
            <p14:sldId id="266"/>
            <p14:sldId id="267"/>
          </p14:sldIdLst>
        </p14:section>
        <p14:section name="Close" id="{A9D881F6-E028-21FB-1D2C-84D61D5A1F5B}">
          <p14:sldIdLst>
            <p14:sldId id="268"/>
          </p14:sldIdLst>
        </p14:section>
        <p14:section name="Appendix" id="{189EC8B7-183A-B2EE-2185-F8C4CA76019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49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Delete before export. The pitch timings total approximately 5 minutes and are an assumption based on the final showcase format; organisers should confirm the Checkpoint 4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Fill the seven fields on the right. Submission no. must match your registration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timed. Include up to six members, with the team leader first. Add each member’s role, degree/year and key skill. Photos are optional. For teams with fewer than six members, leave unused cards blank or delete those cards; do not enter fictitious details. Mentor/supervisor details are only needed if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the refined problem statement from Checkpoint 2. Every number needs a source [n].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specific. Not "farmers" but "smallholder paddy farmers under 2 acres in Polonnaruwa".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visual. The one-sentence solution must be understood by a non-specialist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flow end to end. Mark components as Built, Bought or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real alternatives you found. Do not claim novelty without a search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SDG target and the indicator it moves. Mark every estimate as an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specific fact, estimate, source, or test plan in each box; label estimates and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an illustrative four-week plan; adjust tasks and dates to fit the confirmed Checkpoint 5 window. Show what you will build, test and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assumption that could break the concept, and how the prototype tests 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problem, the solution and your specific ask. Keep to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Maximum 2 appendix slides. Ensure each [n] citation in the deck maps to a complete reference entry. Use a consistent citation format and prefer official or peer-reviewed sources where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IEEE SIGHT · SDG SPRINTS 2026  |  Solution Concept Deck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IEEE SIGHT · SDG SPRINTS 2026  |  Solution Concept Deck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READ FIRST · DELETE THIS SLIDE BEFORE SUBMITTING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to use this template</a:t>
            </a:r>
            <a:endParaRPr lang="en-US" sz="3400" dirty="0"/>
          </a:p>
        </p:txBody>
      </p:sp>
      <p:sp>
        <p:nvSpPr>
          <p:cNvPr id="5" name="Rules"/>
          <p:cNvSpPr/>
          <p:nvPr/>
        </p:nvSpPr>
        <p:spPr>
          <a:xfrm>
            <a:off x="548640" y="1417320"/>
            <a:ext cx="5577840" cy="4722223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800" b="1" dirty="0"/>
              <a:t>Ground rules</a:t>
            </a:r>
            <a:endParaRPr lang="en-US" sz="1400" dirty="0"/>
          </a:p>
          <a:p>
            <a:endParaRPr lang="en-US" sz="600" dirty="0"/>
          </a:p>
          <a:p>
            <a:r>
              <a:rPr sz="1400" dirty="0"/>
              <a:t>After deleting this slide, keep the 12 core slides in this order; add at most 2 appendix slides.</a:t>
            </a:r>
            <a:endParaRPr lang="en-US" sz="1400" dirty="0"/>
          </a:p>
          <a:p>
            <a:endParaRPr sz="1200" dirty="0"/>
          </a:p>
          <a:p>
            <a:r>
              <a:rPr sz="1400" dirty="0"/>
              <a:t>Lead with evidence, not adjectives.</a:t>
            </a:r>
            <a:r>
              <a:rPr lang="en-US" sz="1400" dirty="0"/>
              <a:t> </a:t>
            </a:r>
            <a:r>
              <a:rPr sz="1400" dirty="0"/>
              <a:t>Replace each grey prompt. Use “N/A” only when a field genuinely does not apply; briefly explain why.</a:t>
            </a:r>
            <a:r>
              <a:rPr lang="en-US" sz="1400" dirty="0"/>
              <a:t> </a:t>
            </a:r>
          </a:p>
          <a:p>
            <a:br>
              <a:rPr lang="en-US" sz="1400" dirty="0"/>
            </a:br>
            <a:r>
              <a:rPr lang="en-US" sz="1400" dirty="0"/>
              <a:t>You may add extra slides, but you must use this same document for your solution concept pitch. </a:t>
            </a:r>
            <a:r>
              <a:rPr lang="en-US" sz="1400" b="1" dirty="0"/>
              <a:t>One submission per solution is allowed. You may submit multiple documents only if each presents a different, distinct solution.</a:t>
            </a:r>
            <a:endParaRPr lang="en-US" sz="1400" dirty="0"/>
          </a:p>
          <a:p>
            <a:endParaRPr sz="1400" dirty="0"/>
          </a:p>
          <a:p>
            <a:r>
              <a:rPr sz="1400" dirty="0"/>
              <a:t>Body text 14 pt or larger. Prefer diagrams and images to paragraphs.</a:t>
            </a:r>
          </a:p>
          <a:p>
            <a:r>
              <a:rPr sz="1400" dirty="0"/>
              <a:t>Cite sources and list them on the References slide.</a:t>
            </a:r>
            <a:br>
              <a:rPr lang="en-US" sz="1400" dirty="0"/>
            </a:br>
            <a:endParaRPr sz="1400" dirty="0"/>
          </a:p>
          <a:p>
            <a:r>
              <a:rPr sz="1400" dirty="0"/>
              <a:t>Label work Done, In progress or Planned. Never present plans as</a:t>
            </a:r>
            <a:r>
              <a:rPr lang="en-US" sz="1400" dirty="0"/>
              <a:t> </a:t>
            </a:r>
            <a:r>
              <a:rPr sz="1400" dirty="0"/>
              <a:t>results.</a:t>
            </a:r>
            <a:r>
              <a:rPr lang="en-US" sz="1400" dirty="0"/>
              <a:t> </a:t>
            </a:r>
            <a:br>
              <a:rPr lang="en-US" sz="1400" dirty="0"/>
            </a:br>
            <a:endParaRPr sz="1400" dirty="0"/>
          </a:p>
          <a:p>
            <a:r>
              <a:rPr sz="1400" dirty="0"/>
              <a:t>Export as PDF named TeamName_SubmissionNo_ConceptDeck.pdf.</a:t>
            </a:r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168789"/>
              </p:ext>
            </p:extLst>
          </p:nvPr>
        </p:nvGraphicFramePr>
        <p:xfrm>
          <a:off x="6400800" y="1417320"/>
          <a:ext cx="5212080" cy="3852672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Final deck slide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Pitch time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3 Problem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65</a:t>
                      </a:r>
                      <a:r>
                        <a:rPr dirty="0"/>
                        <a:t> </a:t>
                      </a:r>
                      <a:r>
                        <a:rPr b="0" dirty="0"/>
                        <a:t>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4 Users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45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5 Solution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65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6 How it works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55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7 Innovation &amp; prior art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55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8 Impact &amp; SDGs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45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9 Feasibility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45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10 Prototype plan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45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11 Risks &amp; ethics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35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12 Closing &amp; ask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25</a:t>
                      </a:r>
                      <a:r>
                        <a:rPr dirty="0"/>
                        <a:t> s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5669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chemeClr val="accent4"/>
                </a:solidFill>
              </a:rPr>
              <a:t>Total ≈ 8 min. Cover, Team and Appendix are not timed.</a:t>
            </a:r>
          </a:p>
          <a:p>
            <a:br>
              <a:rPr lang="en-US" sz="1200" i="1" dirty="0">
                <a:solidFill>
                  <a:schemeClr val="accent4"/>
                </a:solidFill>
              </a:rPr>
            </a:br>
            <a:r>
              <a:rPr lang="en-US" sz="1400" b="1" dirty="0"/>
              <a:t>Submission Deadline: 11.59 PM | 29.10.2026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IEEE SIGHT · SDG SPRINTS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SOLUTION CONCEPT DECK  ·  CHECKPOINT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Solution Title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2"/>
                </a:solidFill>
              </a:rPr>
              <a:t>One-sentence description of your solution (who it helps, how, why it is different)</a:t>
            </a:r>
            <a:endParaRPr lang="en-US" sz="1800" dirty="0"/>
          </a:p>
        </p:txBody>
      </p:sp>
      <p:sp>
        <p:nvSpPr>
          <p:cNvPr id="6" name="Logo area"/>
          <p:cNvSpPr/>
          <p:nvPr/>
        </p:nvSpPr>
        <p:spPr>
          <a:xfrm>
            <a:off x="548640" y="5486400"/>
            <a:ext cx="6766560" cy="640080"/>
          </a:xfrm>
          <a:prstGeom prst="roundRect">
            <a:avLst>
              <a:gd name="adj" fmla="val 11429"/>
            </a:avLst>
          </a:prstGeom>
          <a:noFill/>
          <a:ln w="12700">
            <a:solidFill>
              <a:srgbClr val="8FA3C7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“Small acts, when multiplied by millions of people, can transform the world”  –  Howard Zinn  –</a:t>
            </a:r>
          </a:p>
        </p:txBody>
      </p:sp>
      <p:sp>
        <p:nvSpPr>
          <p:cNvPr id="7" name="Cover details"/>
          <p:cNvSpPr/>
          <p:nvPr/>
        </p:nvSpPr>
        <p:spPr>
          <a:xfrm>
            <a:off x="7863840" y="731520"/>
            <a:ext cx="3794760" cy="5394960"/>
          </a:xfrm>
          <a:prstGeom prst="roundRect">
            <a:avLst>
              <a:gd name="adj" fmla="val 1928"/>
            </a:avLst>
          </a:prstGeom>
          <a:solidFill>
            <a:schemeClr val="bg1"/>
          </a:solidFill>
          <a:ln/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Team name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University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 statement ID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SDG(s) addressed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Submission no.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Team leader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Date of submission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Type here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01 ·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Team &amp; mentors</a:t>
            </a:r>
            <a:endParaRPr lang="en-US" sz="3400" dirty="0"/>
          </a:p>
        </p:txBody>
      </p:sp>
      <p:sp>
        <p:nvSpPr>
          <p:cNvPr id="5" name="Member card 1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Photo 1"/>
          <p:cNvSpPr/>
          <p:nvPr/>
        </p:nvSpPr>
        <p:spPr>
          <a:xfrm>
            <a:off x="685800" y="17373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581912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Team leader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8" name="Member card 2"/>
          <p:cNvSpPr/>
          <p:nvPr/>
        </p:nvSpPr>
        <p:spPr>
          <a:xfrm>
            <a:off x="4297680" y="1463040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Photo 2"/>
          <p:cNvSpPr/>
          <p:nvPr/>
        </p:nvSpPr>
        <p:spPr>
          <a:xfrm>
            <a:off x="4434840" y="17373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1581912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 2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11" name="Member card 3"/>
          <p:cNvSpPr/>
          <p:nvPr/>
        </p:nvSpPr>
        <p:spPr>
          <a:xfrm>
            <a:off x="8046720" y="1463040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Photo 3"/>
          <p:cNvSpPr/>
          <p:nvPr/>
        </p:nvSpPr>
        <p:spPr>
          <a:xfrm>
            <a:off x="8183880" y="173736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1581912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 3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14" name="Member card 4"/>
          <p:cNvSpPr/>
          <p:nvPr/>
        </p:nvSpPr>
        <p:spPr>
          <a:xfrm>
            <a:off x="548640" y="3044952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Photo 4"/>
          <p:cNvSpPr/>
          <p:nvPr/>
        </p:nvSpPr>
        <p:spPr>
          <a:xfrm>
            <a:off x="685800" y="3319272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163824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 4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17" name="Member card 5"/>
          <p:cNvSpPr/>
          <p:nvPr/>
        </p:nvSpPr>
        <p:spPr>
          <a:xfrm>
            <a:off x="4297680" y="3044952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Photo 5"/>
          <p:cNvSpPr/>
          <p:nvPr/>
        </p:nvSpPr>
        <p:spPr>
          <a:xfrm>
            <a:off x="4434840" y="3319272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3163824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 5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20" name="University / faculty"/>
          <p:cNvSpPr/>
          <p:nvPr/>
        </p:nvSpPr>
        <p:spPr>
          <a:xfrm>
            <a:off x="548640" y="4645152"/>
            <a:ext cx="5440680" cy="1207008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University / faculty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Institution(s) and degree programmes represented.</a:t>
            </a:r>
            <a:endParaRPr lang="en-US" sz="1400" dirty="0"/>
          </a:p>
        </p:txBody>
      </p:sp>
      <p:sp>
        <p:nvSpPr>
          <p:cNvPr id="21" name="Mentor / supervisor"/>
          <p:cNvSpPr/>
          <p:nvPr/>
        </p:nvSpPr>
        <p:spPr>
          <a:xfrm>
            <a:off x="6172200" y="4645152"/>
            <a:ext cx="5440680" cy="1207008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Mentor / supervisor (if applicable)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Name, organisation and key advice received. Leave blank if there is no mentor.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Member card 6"/>
          <p:cNvSpPr/>
          <p:nvPr/>
        </p:nvSpPr>
        <p:spPr>
          <a:xfrm>
            <a:off x="8046720" y="3044952"/>
            <a:ext cx="3566160" cy="14173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Photo 6"/>
          <p:cNvSpPr/>
          <p:nvPr/>
        </p:nvSpPr>
        <p:spPr>
          <a:xfrm>
            <a:off x="8183880" y="3319272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4"/>
                </a:solidFill>
              </a:rPr>
              <a:t>Photo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9144000" y="3163824"/>
            <a:ext cx="2331720" cy="117957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Member 6 name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Role in team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Degree · Year</a:t>
            </a:r>
            <a:endParaRPr lang="en-US" sz="14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skill</a:t>
            </a:r>
            <a:endParaRPr lang="en-US" sz="1400" dirty="0"/>
          </a:p>
        </p:txBody>
      </p:sp>
      <p:sp>
        <p:nvSpPr>
          <p:cNvPr id="29" name="Team member instructions"/>
          <p:cNvSpPr txBox="1"/>
          <p:nvPr/>
        </p:nvSpPr>
        <p:spPr>
          <a:xfrm>
            <a:off x="548640" y="1252728"/>
            <a:ext cx="11064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5C6B7E"/>
                </a:solidFill>
              </a:rPr>
              <a:t>Include up to six members, team leader first. Photos are optional. Delete unused cards for smaller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 · PROBLEM  ·  ~65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 we validated</a:t>
            </a:r>
            <a:endParaRPr lang="en-US" sz="3400" dirty="0"/>
          </a:p>
        </p:txBody>
      </p:sp>
      <p:sp>
        <p:nvSpPr>
          <p:cNvPr id="5" name="Validated problem statement"/>
          <p:cNvSpPr/>
          <p:nvPr/>
        </p:nvSpPr>
        <p:spPr>
          <a:xfrm>
            <a:off x="548640" y="1417320"/>
            <a:ext cx="52120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Validated problem statement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From Checkpoint 2, refined with feedback. Who + what + where + evidence, in two sentences.</a:t>
            </a:r>
            <a:endParaRPr lang="en-US" sz="1400" dirty="0"/>
          </a:p>
        </p:txBody>
      </p:sp>
      <p:sp>
        <p:nvSpPr>
          <p:cNvPr id="6" name="Who is affected, where, how many"/>
          <p:cNvSpPr/>
          <p:nvPr/>
        </p:nvSpPr>
        <p:spPr>
          <a:xfrm>
            <a:off x="548640" y="3749040"/>
            <a:ext cx="52120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Who is affected, where, how many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Location, population size, and how people cope today.</a:t>
            </a:r>
            <a:endParaRPr lang="en-US" sz="1400" dirty="0"/>
          </a:p>
        </p:txBody>
      </p:sp>
      <p:sp>
        <p:nvSpPr>
          <p:cNvPr id="7" name="Stat 1"/>
          <p:cNvSpPr/>
          <p:nvPr/>
        </p:nvSpPr>
        <p:spPr>
          <a:xfrm>
            <a:off x="5989320" y="1417320"/>
            <a:ext cx="1783080" cy="214884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00%</a:t>
            </a:r>
            <a:endParaRPr lang="en-US" sz="4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statistic 1</a:t>
            </a:r>
            <a:endParaRPr lang="en-US" sz="40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Source [n], year</a:t>
            </a:r>
            <a:endParaRPr lang="en-US" sz="4000" dirty="0"/>
          </a:p>
        </p:txBody>
      </p:sp>
      <p:sp>
        <p:nvSpPr>
          <p:cNvPr id="8" name="Stat 2"/>
          <p:cNvSpPr/>
          <p:nvPr/>
        </p:nvSpPr>
        <p:spPr>
          <a:xfrm>
            <a:off x="7909560" y="1417320"/>
            <a:ext cx="1783080" cy="214884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00%</a:t>
            </a:r>
            <a:endParaRPr lang="en-US" sz="4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statistic 2</a:t>
            </a:r>
            <a:endParaRPr lang="en-US" sz="40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Source [n], year</a:t>
            </a:r>
            <a:endParaRPr lang="en-US" sz="4000" dirty="0"/>
          </a:p>
        </p:txBody>
      </p:sp>
      <p:sp>
        <p:nvSpPr>
          <p:cNvPr id="9" name="Stat 3"/>
          <p:cNvSpPr/>
          <p:nvPr/>
        </p:nvSpPr>
        <p:spPr>
          <a:xfrm>
            <a:off x="9829800" y="1417320"/>
            <a:ext cx="1783080" cy="214884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00%</a:t>
            </a:r>
            <a:endParaRPr lang="en-US" sz="40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statistic 3</a:t>
            </a:r>
            <a:endParaRPr lang="en-US" sz="40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Source [n], year</a:t>
            </a:r>
            <a:endParaRPr lang="en-US" sz="4000" dirty="0"/>
          </a:p>
        </p:txBody>
      </p:sp>
      <p:sp>
        <p:nvSpPr>
          <p:cNvPr id="10" name="Root causes (top 2–3)"/>
          <p:cNvSpPr/>
          <p:nvPr/>
        </p:nvSpPr>
        <p:spPr>
          <a:xfrm>
            <a:off x="5989320" y="3749040"/>
            <a:ext cx="56235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Root causes (top 2–3)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From your 5-Whys or fishbone. Mark the cause your solution targets.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03 · USERS  ·  ~45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we are designing for</a:t>
            </a:r>
            <a:endParaRPr lang="en-US" sz="3400" dirty="0"/>
          </a:p>
        </p:txBody>
      </p:sp>
      <p:sp>
        <p:nvSpPr>
          <p:cNvPr id="5" name="Primary user"/>
          <p:cNvSpPr/>
          <p:nvPr/>
        </p:nvSpPr>
        <p:spPr>
          <a:xfrm>
            <a:off x="54864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Primary user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Who, where, how many. Age, income, livelihood, access to phones and power. Be specific, not "farmers".</a:t>
            </a:r>
            <a:endParaRPr lang="en-US" sz="1400" dirty="0"/>
          </a:p>
        </p:txBody>
      </p:sp>
      <p:sp>
        <p:nvSpPr>
          <p:cNvPr id="6" name="Current practice &amp; pain points"/>
          <p:cNvSpPr/>
          <p:nvPr/>
        </p:nvSpPr>
        <p:spPr>
          <a:xfrm>
            <a:off x="429768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Current practice &amp; pain points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they do today, what it costs them in money, time or health, and why it fails.</a:t>
            </a:r>
            <a:endParaRPr lang="en-US" sz="1400" dirty="0"/>
          </a:p>
        </p:txBody>
      </p:sp>
      <p:sp>
        <p:nvSpPr>
          <p:cNvPr id="7" name="Other stakeholders"/>
          <p:cNvSpPr/>
          <p:nvPr/>
        </p:nvSpPr>
        <p:spPr>
          <a:xfrm>
            <a:off x="804672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Other stakeholders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Who pays, who enables, who could block. For example officers, NGOs, retailers, regulators.</a:t>
            </a:r>
            <a:endParaRPr lang="en-US" sz="1400" dirty="0"/>
          </a:p>
        </p:txBody>
      </p:sp>
      <p:sp>
        <p:nvSpPr>
          <p:cNvPr id="8" name="User evidence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User evidence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bg2"/>
                </a:solidFill>
              </a:rPr>
              <a:t> Interviews, surveys or expert input: n = __. Add one short quote.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 · SOLUTION  ·  ~65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solution</a:t>
            </a:r>
            <a:endParaRPr lang="en-US" sz="3400" dirty="0"/>
          </a:p>
        </p:txBody>
      </p:sp>
      <p:sp>
        <p:nvSpPr>
          <p:cNvPr id="5" name="Concept visual"/>
          <p:cNvSpPr/>
          <p:nvPr/>
        </p:nvSpPr>
        <p:spPr>
          <a:xfrm>
            <a:off x="548640" y="1417320"/>
            <a:ext cx="576072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4"/>
                </a:solidFill>
              </a:rPr>
              <a:t>Concept visual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accent4"/>
                </a:solidFill>
              </a:rPr>
              <a:t>Sketch, render, mock-up or screenshot</a:t>
            </a:r>
            <a:endParaRPr lang="en-US" sz="1600" dirty="0"/>
          </a:p>
        </p:txBody>
      </p:sp>
      <p:sp>
        <p:nvSpPr>
          <p:cNvPr id="6" name="One-sentence solution"/>
          <p:cNvSpPr/>
          <p:nvPr/>
        </p:nvSpPr>
        <p:spPr>
          <a:xfrm>
            <a:off x="6537960" y="1417320"/>
            <a:ext cx="50749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One-sentence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bg2"/>
                </a:solidFill>
              </a:rPr>
              <a:t>We help [user] to [outcome] by [approach].</a:t>
            </a:r>
            <a:endParaRPr lang="en-US" sz="1400" dirty="0"/>
          </a:p>
        </p:txBody>
      </p:sp>
      <p:sp>
        <p:nvSpPr>
          <p:cNvPr id="7" name="Step 1"/>
          <p:cNvSpPr/>
          <p:nvPr/>
        </p:nvSpPr>
        <p:spPr>
          <a:xfrm>
            <a:off x="653796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Key feature 1"/>
          <p:cNvSpPr/>
          <p:nvPr/>
        </p:nvSpPr>
        <p:spPr>
          <a:xfrm>
            <a:off x="7132320" y="306324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Key feature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it does and the benefit to the user.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6537960" y="4114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Key feature 2"/>
          <p:cNvSpPr/>
          <p:nvPr/>
        </p:nvSpPr>
        <p:spPr>
          <a:xfrm>
            <a:off x="7132320" y="406908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Key feature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it does and the benefit to the user.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653796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Key feature 3"/>
          <p:cNvSpPr/>
          <p:nvPr/>
        </p:nvSpPr>
        <p:spPr>
          <a:xfrm>
            <a:off x="7132320" y="507492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Key feature 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it does and the benefit to the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 · HOW IT WORKS  ·  ~55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5" name="1 · Input"/>
          <p:cNvSpPr/>
          <p:nvPr/>
        </p:nvSpPr>
        <p:spPr>
          <a:xfrm>
            <a:off x="548640" y="14173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 · Input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data or trigger starts it?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3108960" y="20574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2 · Process"/>
          <p:cNvSpPr/>
          <p:nvPr/>
        </p:nvSpPr>
        <p:spPr>
          <a:xfrm>
            <a:off x="3401568" y="14173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 · Process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happens to it?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5961888" y="20574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3 · Output"/>
          <p:cNvSpPr/>
          <p:nvPr/>
        </p:nvSpPr>
        <p:spPr>
          <a:xfrm>
            <a:off x="6254496" y="14173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 · Output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does the system produce?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8814816" y="20574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4 · User action"/>
          <p:cNvSpPr/>
          <p:nvPr/>
        </p:nvSpPr>
        <p:spPr>
          <a:xfrm>
            <a:off x="9107424" y="14173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4 · User action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does the user do next?</a:t>
            </a:r>
            <a:endParaRPr lang="en-US" sz="1400" dirty="0"/>
          </a:p>
        </p:txBody>
      </p:sp>
      <p:sp>
        <p:nvSpPr>
          <p:cNvPr id="12" name="Technology &amp; components"/>
          <p:cNvSpPr/>
          <p:nvPr/>
        </p:nvSpPr>
        <p:spPr>
          <a:xfrm>
            <a:off x="548640" y="3200400"/>
            <a:ext cx="548640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Technology &amp; components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Hardware, software, data, or processes. Say what is off-the-shelf and what you build.</a:t>
            </a:r>
            <a:endParaRPr lang="en-US" sz="1400" dirty="0"/>
          </a:p>
        </p:txBody>
      </p:sp>
      <p:sp>
        <p:nvSpPr>
          <p:cNvPr id="13" name="User experience"/>
          <p:cNvSpPr/>
          <p:nvPr/>
        </p:nvSpPr>
        <p:spPr>
          <a:xfrm>
            <a:off x="6217920" y="3200400"/>
            <a:ext cx="539496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User experience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How the user finds, learns and uses it. What changes in their routine.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06 · INNOVATION  ·  ~55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exists, and what is new</a:t>
            </a:r>
            <a:endParaRPr lang="en-US" sz="34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Existing solution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Where it is used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 for our users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ours differs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Alternative 1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Country / sector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Cost, access, fit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Specific difference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Alternative 2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Country / sector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Cost, access, fit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Specific difference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Alternative 3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Country / sector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Cost, access, fit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Specific difference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Our solution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Sri Lanka, target users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Our unique value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Innovation type"/>
          <p:cNvSpPr/>
          <p:nvPr/>
        </p:nvSpPr>
        <p:spPr>
          <a:xfrm>
            <a:off x="548640" y="4389120"/>
            <a:ext cx="54864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Innovation type (tick one)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☐ Existing innovation introduced to Sri Lanka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☐ Existing innovation adapted to Sri Lankan conditions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☐ Improvement to an existing Sri Lankan solution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☐ New invention</a:t>
            </a:r>
            <a:endParaRPr lang="en-US" sz="1400" dirty="0"/>
          </a:p>
        </p:txBody>
      </p:sp>
      <p:sp>
        <p:nvSpPr>
          <p:cNvPr id="7" name="Where we searched"/>
          <p:cNvSpPr/>
          <p:nvPr/>
        </p:nvSpPr>
        <p:spPr>
          <a:xfrm>
            <a:off x="6217920" y="438912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Where we searched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Scholar, patents, product catalogues, expert advice. State what you found and what you did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07 · IMPACT  ·  ~45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&amp; SDG alignment</a:t>
            </a:r>
            <a:endParaRPr lang="en-US" sz="3400" dirty="0"/>
          </a:p>
        </p:txBody>
      </p:sp>
      <p:sp>
        <p:nvSpPr>
          <p:cNvPr id="5" name="Primary SDG"/>
          <p:cNvSpPr/>
          <p:nvPr/>
        </p:nvSpPr>
        <p:spPr>
          <a:xfrm>
            <a:off x="548640" y="1417320"/>
            <a:ext cx="2148840" cy="18288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SDG _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Primary</a:t>
            </a:r>
            <a:endParaRPr lang="en-US" sz="2600" dirty="0"/>
          </a:p>
        </p:txBody>
      </p:sp>
      <p:sp>
        <p:nvSpPr>
          <p:cNvPr id="6" name="Secondary SDG"/>
          <p:cNvSpPr/>
          <p:nvPr/>
        </p:nvSpPr>
        <p:spPr>
          <a:xfrm>
            <a:off x="2880360" y="1417320"/>
            <a:ext cx="2148840" cy="18288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SDG _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Secondary</a:t>
            </a:r>
            <a:endParaRPr lang="en-US" sz="2600" dirty="0"/>
          </a:p>
        </p:txBody>
      </p:sp>
      <p:sp>
        <p:nvSpPr>
          <p:cNvPr id="7" name="SDG target &amp; indicator"/>
          <p:cNvSpPr/>
          <p:nvPr/>
        </p:nvSpPr>
        <p:spPr>
          <a:xfrm>
            <a:off x="548640" y="3429000"/>
            <a:ext cx="448056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SDG target &amp; indicator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Cite the target number (e.g. 2.3) and how your solution moves it. No generic alignment claims.</a:t>
            </a:r>
            <a:endParaRPr lang="en-US" sz="14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417320"/>
          <a:ext cx="6355080" cy="2560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Measured by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Metric 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Metric 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Metric 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 [n]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Beneficiaries &amp; scale"/>
          <p:cNvSpPr/>
          <p:nvPr/>
        </p:nvSpPr>
        <p:spPr>
          <a:xfrm>
            <a:off x="5257800" y="3977640"/>
            <a:ext cx="63550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Beneficiaries &amp; scale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Direct and indirect beneficiaries at pilot and at scale. Include the assumptions behind the numbers.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 · FEASIBILITY  ·  ~45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Is it realistic in Sri Lanka?</a:t>
            </a:r>
            <a:endParaRPr lang="en-US" sz="3400" dirty="0"/>
          </a:p>
        </p:txBody>
      </p:sp>
      <p:sp>
        <p:nvSpPr>
          <p:cNvPr id="5" name="Technical feasibility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Technical feasibility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What is proven, what is risky, what you will test.</a:t>
            </a:r>
            <a:endParaRPr lang="en-US" sz="1400" dirty="0"/>
          </a:p>
        </p:txBody>
      </p:sp>
      <p:sp>
        <p:nvSpPr>
          <p:cNvPr id="6" name="Cost &amp; affordability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Cost &amp; affordability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Unit cost against what the user can pay.</a:t>
            </a:r>
            <a:endParaRPr lang="en-US" sz="1400" dirty="0"/>
          </a:p>
        </p:txBody>
      </p:sp>
      <p:sp>
        <p:nvSpPr>
          <p:cNvPr id="7" name="Materials &amp; local supply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Materials &amp; local supply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Where parts or inputs come from, and lead times.</a:t>
            </a:r>
            <a:endParaRPr lang="en-US" sz="1400" dirty="0"/>
          </a:p>
        </p:txBody>
      </p:sp>
      <p:sp>
        <p:nvSpPr>
          <p:cNvPr id="8" name="Regulation &amp; safety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Regulation &amp; safety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Permits, standards, and food, data or electrical safety.</a:t>
            </a:r>
            <a:endParaRPr lang="en-US" sz="1400" dirty="0"/>
          </a:p>
        </p:txBody>
      </p:sp>
      <p:sp>
        <p:nvSpPr>
          <p:cNvPr id="9" name="Adoption by users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Adoption by users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Why users will switch. Training and support needed.</a:t>
            </a:r>
            <a:endParaRPr lang="en-US" sz="1400" dirty="0"/>
          </a:p>
        </p:txBody>
      </p:sp>
      <p:sp>
        <p:nvSpPr>
          <p:cNvPr id="10" name="Sustainability &amp; model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Sustainability &amp; model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Who pays, who maintains, how it lasts beyond the pilot.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09 · PROTOTYPE PLAN  ·  ~45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 plan &amp; budget</a:t>
            </a:r>
            <a:endParaRPr lang="en-US" sz="3400" dirty="0"/>
          </a:p>
        </p:txBody>
      </p:sp>
      <p:sp>
        <p:nvSpPr>
          <p:cNvPr id="5" name="Week 1"/>
          <p:cNvSpPr/>
          <p:nvPr/>
        </p:nvSpPr>
        <p:spPr>
          <a:xfrm>
            <a:off x="548640" y="14173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Week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Mentor kickoff, final design.</a:t>
            </a:r>
            <a:endParaRPr lang="en-US" sz="1400" dirty="0"/>
          </a:p>
        </p:txBody>
      </p:sp>
      <p:sp>
        <p:nvSpPr>
          <p:cNvPr id="6" name="Week 2"/>
          <p:cNvSpPr/>
          <p:nvPr/>
        </p:nvSpPr>
        <p:spPr>
          <a:xfrm>
            <a:off x="3355848" y="14173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Week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Build core function.</a:t>
            </a:r>
            <a:endParaRPr lang="en-US" sz="1400" dirty="0"/>
          </a:p>
        </p:txBody>
      </p:sp>
      <p:sp>
        <p:nvSpPr>
          <p:cNvPr id="7" name="Week 3"/>
          <p:cNvSpPr/>
          <p:nvPr/>
        </p:nvSpPr>
        <p:spPr>
          <a:xfrm>
            <a:off x="6163056" y="14173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Week 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Test with users.</a:t>
            </a:r>
            <a:endParaRPr lang="en-US" sz="1400" dirty="0"/>
          </a:p>
        </p:txBody>
      </p:sp>
      <p:sp>
        <p:nvSpPr>
          <p:cNvPr id="8" name="Week 4"/>
          <p:cNvSpPr/>
          <p:nvPr/>
        </p:nvSpPr>
        <p:spPr>
          <a:xfrm>
            <a:off x="8970264" y="14173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Week 4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Demo video and documentation.</a:t>
            </a:r>
            <a:endParaRPr lang="en-US" sz="1400" dirty="0"/>
          </a:p>
        </p:txBody>
      </p:sp>
      <p:sp>
        <p:nvSpPr>
          <p:cNvPr id="9" name="Stage"/>
          <p:cNvSpPr/>
          <p:nvPr/>
        </p:nvSpPr>
        <p:spPr>
          <a:xfrm>
            <a:off x="548640" y="283464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Current stage (select one):  ☐ Idea   ☐ Concept design   ☐ Early prototype   ☐ Functional prototype   ☐ Tested with users</a:t>
            </a:r>
            <a:endParaRPr lang="en-US" sz="1300" dirty="0"/>
          </a:p>
        </p:txBody>
      </p:sp>
      <p:sp>
        <p:nvSpPr>
          <p:cNvPr id="10" name="Prototype scope"/>
          <p:cNvSpPr/>
          <p:nvPr/>
        </p:nvSpPr>
        <p:spPr>
          <a:xfrm>
            <a:off x="548640" y="3520440"/>
            <a:ext cx="53949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Prototype scope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Will build: … Out of scope: … Success test: what result shows it works?</a:t>
            </a:r>
            <a:endParaRPr lang="en-US" sz="14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520440"/>
          <a:ext cx="5486400" cy="20574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Budget item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 (LKR)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Item 1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Item 2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Item 3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5606E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10 · RISKS &amp; ETHICS  ·  ~35 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Risks, ethics &amp; inclusion</a:t>
            </a:r>
            <a:endParaRPr lang="en-US" sz="34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040880" cy="3429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Technical risk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User adoption risk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Cost or supply risk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Regulatory risk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L / M / H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55606E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iskiest assumption to test first"/>
          <p:cNvSpPr/>
          <p:nvPr/>
        </p:nvSpPr>
        <p:spPr>
          <a:xfrm>
            <a:off x="548640" y="4937760"/>
            <a:ext cx="70408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Riskiest assumption to test first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The one thing that, if wrong, breaks the concept.</a:t>
            </a:r>
            <a:endParaRPr lang="en-US" sz="1400" dirty="0"/>
          </a:p>
        </p:txBody>
      </p:sp>
      <p:sp>
        <p:nvSpPr>
          <p:cNvPr id="7" name="Ethics, inclusion &amp; environment"/>
          <p:cNvSpPr/>
          <p:nvPr/>
        </p:nvSpPr>
        <p:spPr>
          <a:xfrm>
            <a:off x="7772400" y="1417320"/>
            <a:ext cx="3840480" cy="457200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Ethics, inclusion &amp; environment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Data privacy and consent.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Safety of users and handlers.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Gender, disability and language access.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Environmental footprint and end of life.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One-line takeaway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11 · CLOSING  ·  ~25 s</a:t>
            </a:r>
            <a:endParaRPr lang="en-US" sz="1200" dirty="0"/>
          </a:p>
        </p:txBody>
      </p:sp>
      <p:sp>
        <p:nvSpPr>
          <p:cNvPr id="5" name="The problem"/>
          <p:cNvSpPr/>
          <p:nvPr/>
        </p:nvSpPr>
        <p:spPr>
          <a:xfrm>
            <a:off x="54864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The problem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bg2"/>
                </a:solidFill>
              </a:rPr>
              <a:t>One line, one number.</a:t>
            </a:r>
            <a:endParaRPr lang="en-US" sz="1400" dirty="0"/>
          </a:p>
        </p:txBody>
      </p:sp>
      <p:sp>
        <p:nvSpPr>
          <p:cNvPr id="6" name="Our solution"/>
          <p:cNvSpPr/>
          <p:nvPr/>
        </p:nvSpPr>
        <p:spPr>
          <a:xfrm>
            <a:off x="429768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Our solution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bg2"/>
                </a:solidFill>
              </a:rPr>
              <a:t>One line, one differentiator.</a:t>
            </a:r>
            <a:endParaRPr lang="en-US" sz="1400" dirty="0"/>
          </a:p>
        </p:txBody>
      </p:sp>
      <p:sp>
        <p:nvSpPr>
          <p:cNvPr id="7" name="Our ask"/>
          <p:cNvSpPr/>
          <p:nvPr/>
        </p:nvSpPr>
        <p:spPr>
          <a:xfrm>
            <a:off x="8046720" y="38404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Our ask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bg2"/>
                </a:solidFill>
              </a:rPr>
              <a:t>Mentors, data access, partners or pilot site.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Team name  ·  Contact email  ·  Phone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APPENDIX A · REFERENCES &amp;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 &amp; supporting evidence</a:t>
            </a:r>
            <a:endParaRPr lang="en-US" sz="3400" dirty="0"/>
          </a:p>
        </p:txBody>
      </p:sp>
      <p:sp>
        <p:nvSpPr>
          <p:cNvPr id="5" name="References"/>
          <p:cNvSpPr/>
          <p:nvPr/>
        </p:nvSpPr>
        <p:spPr>
          <a:xfrm>
            <a:off x="548640" y="141732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References (IEEE format)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[1] Author/Organization, “Title of webpage or document,” Website/Publisher, Year. Accessed: Mon. DD, YYYY. [Online]. Available: URL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[2] …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[3] …</a:t>
            </a:r>
            <a:endParaRPr lang="en-US" sz="1400" dirty="0"/>
          </a:p>
        </p:txBody>
      </p:sp>
      <p:sp>
        <p:nvSpPr>
          <p:cNvPr id="6" name="Evidence from problem validation"/>
          <p:cNvSpPr/>
          <p:nvPr/>
        </p:nvSpPr>
        <p:spPr>
          <a:xfrm>
            <a:off x="7132320" y="1417320"/>
            <a:ext cx="44805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Evidence from problem validation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Key Checkpoint 2 findings. Mark primary or secondary.</a:t>
            </a:r>
            <a:endParaRPr lang="en-US" sz="1400" dirty="0"/>
          </a:p>
        </p:txBody>
      </p:sp>
      <p:sp>
        <p:nvSpPr>
          <p:cNvPr id="7" name="Supporting material"/>
          <p:cNvSpPr/>
          <p:nvPr/>
        </p:nvSpPr>
        <p:spPr>
          <a:xfrm>
            <a:off x="7132320" y="3794760"/>
            <a:ext cx="44805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Supporting material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Optional: survey summary, architecture sketch, links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G Sprints 2026">
  <a:themeElements>
    <a:clrScheme name="SDG Sprints 2026">
      <a:dk1>
        <a:srgbClr val="0F1B3D"/>
      </a:dk1>
      <a:lt1>
        <a:srgbClr val="FFFFFF"/>
      </a:lt1>
      <a:dk2>
        <a:srgbClr val="1B2B63"/>
      </a:dk2>
      <a:lt2>
        <a:srgbClr val="EEF2F8"/>
      </a:lt2>
      <a:accent1>
        <a:srgbClr val="00629B"/>
      </a:accent1>
      <a:accent2>
        <a:srgbClr val="F28C28"/>
      </a:accent2>
      <a:accent3>
        <a:srgbClr val="2E9E6B"/>
      </a:accent3>
      <a:accent4>
        <a:srgbClr val="55606E"/>
      </a:accent4>
      <a:accent5>
        <a:srgbClr val="C0392B"/>
      </a:accent5>
      <a:accent6>
        <a:srgbClr val="7B5EA7"/>
      </a:accent6>
      <a:hlink>
        <a:srgbClr val="00629B"/>
      </a:hlink>
      <a:folHlink>
        <a:srgbClr val="7B5EA7"/>
      </a:folHlink>
    </a:clrScheme>
    <a:fontScheme name="SDG Sprints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1863</Words>
  <Application>Microsoft Office PowerPoint</Application>
  <PresentationFormat>Widescreen</PresentationFormat>
  <Paragraphs>329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SDG Sprints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IEEE Sri Lanka Section 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Concept Deck Template</dc:title>
  <dc:subject>SDG Sprints 2026</dc:subject>
  <dc:creator>IEEE SIGHT SDG Sprints 2026</dc:creator>
  <cp:keywords>SDG Solutions Challenge</cp:keywords>
  <cp:lastModifiedBy>Blue Sky</cp:lastModifiedBy>
  <cp:revision>2</cp:revision>
  <dcterms:created xsi:type="dcterms:W3CDTF">2026-10-15T16:16:32Z</dcterms:created>
  <dcterms:modified xsi:type="dcterms:W3CDTF">2026-10-15T17:23:27Z</dcterms:modified>
  <cp:category>Competition Stage 2</cp:category>
</cp:coreProperties>
</file>